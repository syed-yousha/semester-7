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embeddedFontLst>
    <p:embeddedFont>
      <p:font typeface="Roboto" panose="020B0604020202020204" charset="0"/>
      <p:regular r:id="rId13"/>
    </p:embeddedFont>
    <p:embeddedFont>
      <p:font typeface="Roboto Slab" panose="020B0604020202020204" charset="0"/>
      <p:regular r:id="rId14"/>
    </p:embeddedFont>
    <p:embeddedFont>
      <p:font typeface="Calibri" panose="020F0502020204030204" pitchFamily="34" charset="0"/>
      <p:regular r:id="rId15"/>
      <p:bold r:id="rId16"/>
      <p:italic r:id="rId17"/>
      <p:boldItalic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63" d="100"/>
          <a:sy n="63" d="100"/>
        </p:scale>
        <p:origin x="-264" y="-48"/>
      </p:cViewPr>
      <p:guideLst>
        <p:guide orient="horz" pos="2592"/>
        <p:guide pos="460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565525" cy="7318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660900" y="0"/>
            <a:ext cx="3567113" cy="7318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24A444-1245-426C-8A2B-AE52FE11BE0E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762000" y="1096963"/>
            <a:ext cx="9753600" cy="5486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822325" y="6950075"/>
            <a:ext cx="6584950" cy="658336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3896975"/>
            <a:ext cx="3565525" cy="7302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660900" y="13896975"/>
            <a:ext cx="3567113" cy="7302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77FA73E-4F8D-4D01-8C80-D5D4AECFAF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24514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133124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Organizational Structure &amp; Operations Management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3641407"/>
            <a:ext cx="7556421" cy="11339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Insights from Alphaventure Softwares</a:t>
            </a:r>
            <a:endParaRPr lang="en-US" sz="3550" dirty="0"/>
          </a:p>
        </p:txBody>
      </p:sp>
      <p:sp>
        <p:nvSpPr>
          <p:cNvPr id="5" name="Text 2"/>
          <p:cNvSpPr/>
          <p:nvPr/>
        </p:nvSpPr>
        <p:spPr>
          <a:xfrm>
            <a:off x="793790" y="5115520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257B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Presented by:</a:t>
            </a: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Yasir, Yousha, Taha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793790" y="5733574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257B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Interviewee:</a:t>
            </a: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Yousuf – Team Lead, Engineering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1403" y="590312"/>
            <a:ext cx="5492115" cy="3353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1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Slide 2 — About the Company &amp; Interviewee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751403" y="1462326"/>
            <a:ext cx="6128742" cy="6709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250"/>
              </a:lnSpc>
              <a:buNone/>
            </a:pPr>
            <a:r>
              <a:rPr lang="en-US" sz="42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Alphaventure Softwares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751403" y="2347913"/>
            <a:ext cx="6301978" cy="3433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6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Team Lead Engineering interviewed (5+ years experience)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751403" y="2766417"/>
            <a:ext cx="6301978" cy="3433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6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Semi-hierarchical, collaborative culture</a:t>
            </a:r>
            <a:endParaRPr lang="en-US" sz="1650" dirty="0"/>
          </a:p>
        </p:txBody>
      </p:sp>
      <p:pic>
        <p:nvPicPr>
          <p:cNvPr id="6" name="Image 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41950" y="1499163"/>
            <a:ext cx="5207449" cy="630197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158484"/>
            <a:ext cx="587883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Slide 3 — Organizational Structure Overview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793790" y="2966442"/>
            <a:ext cx="6407944" cy="1438870"/>
          </a:xfrm>
          <a:prstGeom prst="roundRect">
            <a:avLst>
              <a:gd name="adj" fmla="val 10168"/>
            </a:avLst>
          </a:prstGeom>
          <a:solidFill>
            <a:srgbClr val="FBFCFE"/>
          </a:solidFill>
          <a:ln w="30480">
            <a:solidFill>
              <a:srgbClr val="CFD2D8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310" y="2966442"/>
            <a:ext cx="121920" cy="143887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42524" y="3223736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Semi-hierarchical</a:t>
            </a:r>
            <a:endParaRPr lang="en-US" sz="2650" dirty="0"/>
          </a:p>
        </p:txBody>
      </p:sp>
      <p:sp>
        <p:nvSpPr>
          <p:cNvPr id="6" name="Text 3"/>
          <p:cNvSpPr/>
          <p:nvPr/>
        </p:nvSpPr>
        <p:spPr>
          <a:xfrm>
            <a:off x="1142524" y="3785116"/>
            <a:ext cx="580191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Leads/managers + open communication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7428548" y="2966442"/>
            <a:ext cx="6408063" cy="1438870"/>
          </a:xfrm>
          <a:prstGeom prst="roundRect">
            <a:avLst>
              <a:gd name="adj" fmla="val 10168"/>
            </a:avLst>
          </a:prstGeom>
          <a:solidFill>
            <a:srgbClr val="FBFCFE"/>
          </a:solidFill>
          <a:ln w="30480">
            <a:solidFill>
              <a:srgbClr val="CFD2D8"/>
            </a:solidFill>
            <a:prstDash val="solid"/>
          </a:ln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8067" y="2966442"/>
            <a:ext cx="121920" cy="143887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777282" y="3223736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Clear internal roles</a:t>
            </a:r>
            <a:endParaRPr lang="en-US" sz="2650" dirty="0"/>
          </a:p>
        </p:txBody>
      </p:sp>
      <p:sp>
        <p:nvSpPr>
          <p:cNvPr id="10" name="Text 6"/>
          <p:cNvSpPr/>
          <p:nvPr/>
        </p:nvSpPr>
        <p:spPr>
          <a:xfrm>
            <a:off x="7777282" y="3785116"/>
            <a:ext cx="580203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Defined responsibilities within teams.</a:t>
            </a:r>
            <a:endParaRPr lang="en-US" sz="1750" dirty="0"/>
          </a:p>
        </p:txBody>
      </p:sp>
      <p:sp>
        <p:nvSpPr>
          <p:cNvPr id="11" name="Shape 7"/>
          <p:cNvSpPr/>
          <p:nvPr/>
        </p:nvSpPr>
        <p:spPr>
          <a:xfrm>
            <a:off x="793790" y="4632127"/>
            <a:ext cx="6407944" cy="1438870"/>
          </a:xfrm>
          <a:prstGeom prst="roundRect">
            <a:avLst>
              <a:gd name="adj" fmla="val 10168"/>
            </a:avLst>
          </a:prstGeom>
          <a:solidFill>
            <a:srgbClr val="FBFCFE"/>
          </a:solidFill>
          <a:ln w="30480">
            <a:solidFill>
              <a:srgbClr val="CFD2D8"/>
            </a:solidFill>
            <a:prstDash val="solid"/>
          </a:ln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310" y="4632127"/>
            <a:ext cx="121920" cy="143887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142524" y="4889421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Cross-team clarity</a:t>
            </a:r>
            <a:endParaRPr lang="en-US" sz="2650" dirty="0"/>
          </a:p>
        </p:txBody>
      </p:sp>
      <p:sp>
        <p:nvSpPr>
          <p:cNvPr id="14" name="Text 9"/>
          <p:cNvSpPr/>
          <p:nvPr/>
        </p:nvSpPr>
        <p:spPr>
          <a:xfrm>
            <a:off x="1142524" y="5450800"/>
            <a:ext cx="580191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Still improving, leading to occasional overlaps.</a:t>
            </a:r>
            <a:endParaRPr lang="en-US" sz="1750" dirty="0"/>
          </a:p>
        </p:txBody>
      </p:sp>
      <p:sp>
        <p:nvSpPr>
          <p:cNvPr id="15" name="Shape 10"/>
          <p:cNvSpPr/>
          <p:nvPr/>
        </p:nvSpPr>
        <p:spPr>
          <a:xfrm>
            <a:off x="7428548" y="4632127"/>
            <a:ext cx="6408063" cy="1438870"/>
          </a:xfrm>
          <a:prstGeom prst="roundRect">
            <a:avLst>
              <a:gd name="adj" fmla="val 10168"/>
            </a:avLst>
          </a:prstGeom>
          <a:solidFill>
            <a:srgbClr val="FBFCFE"/>
          </a:solidFill>
          <a:ln w="30480">
            <a:solidFill>
              <a:srgbClr val="CFD2D8"/>
            </a:solidFill>
            <a:prstDash val="solid"/>
          </a:ln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8067" y="4632127"/>
            <a:ext cx="121920" cy="143887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7777282" y="4889421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Example</a:t>
            </a:r>
            <a:endParaRPr lang="en-US" sz="2650" dirty="0"/>
          </a:p>
        </p:txBody>
      </p:sp>
      <p:sp>
        <p:nvSpPr>
          <p:cNvPr id="18" name="Text 12"/>
          <p:cNvSpPr/>
          <p:nvPr/>
        </p:nvSpPr>
        <p:spPr>
          <a:xfrm>
            <a:off x="7777282" y="5450800"/>
            <a:ext cx="580203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Design → Dev → QA sometimes overlap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932378"/>
            <a:ext cx="415802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Slide 4 — Communication Flow</a:t>
            </a:r>
            <a:endParaRPr lang="en-US" sz="22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1740337"/>
            <a:ext cx="6521410" cy="9072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20604" y="2874407"/>
            <a:ext cx="302787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Direct Communication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1020604" y="3364825"/>
            <a:ext cx="606778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Across teams</a:t>
            </a:r>
            <a:endParaRPr lang="en-US" sz="17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0" y="1740337"/>
            <a:ext cx="6521410" cy="90725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542014" y="287440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Leads Bridge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7542014" y="3364825"/>
            <a:ext cx="606778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Team </a:t>
            </a:r>
            <a:r>
              <a:rPr lang="en-US" sz="17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↔</a:t>
            </a: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management</a:t>
            </a:r>
            <a:endParaRPr lang="en-US" sz="17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3790" y="3954542"/>
            <a:ext cx="6521410" cy="90725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020604" y="508861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Weekly Alignment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1020604" y="5579031"/>
            <a:ext cx="606778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Cross-department meetings</a:t>
            </a:r>
            <a:endParaRPr lang="en-US" sz="17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0" y="3954542"/>
            <a:ext cx="6521410" cy="907256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7542014" y="508861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Challenge</a:t>
            </a:r>
            <a:endParaRPr lang="en-US" sz="2200" dirty="0"/>
          </a:p>
        </p:txBody>
      </p:sp>
      <p:sp>
        <p:nvSpPr>
          <p:cNvPr id="14" name="Text 8"/>
          <p:cNvSpPr/>
          <p:nvPr/>
        </p:nvSpPr>
        <p:spPr>
          <a:xfrm>
            <a:off x="7542014" y="5579031"/>
            <a:ext cx="606778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Dependency delays in tight timelines</a:t>
            </a:r>
            <a:endParaRPr lang="en-US" sz="1750" dirty="0"/>
          </a:p>
        </p:txBody>
      </p:sp>
      <p:sp>
        <p:nvSpPr>
          <p:cNvPr id="15" name="Text 9"/>
          <p:cNvSpPr/>
          <p:nvPr/>
        </p:nvSpPr>
        <p:spPr>
          <a:xfrm>
            <a:off x="1133951" y="6679049"/>
            <a:ext cx="1270265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257B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Analogy:</a:t>
            </a: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“Think of it like traffic: each team is its own lane, but the moment one slows, the entire flow gets stuck.”</a:t>
            </a:r>
            <a:endParaRPr lang="en-US" sz="1750" dirty="0"/>
          </a:p>
        </p:txBody>
      </p:sp>
      <p:sp>
        <p:nvSpPr>
          <p:cNvPr id="16" name="Shape 10"/>
          <p:cNvSpPr/>
          <p:nvPr/>
        </p:nvSpPr>
        <p:spPr>
          <a:xfrm>
            <a:off x="793790" y="6423898"/>
            <a:ext cx="30480" cy="873204"/>
          </a:xfrm>
          <a:prstGeom prst="rect">
            <a:avLst/>
          </a:prstGeom>
          <a:solidFill>
            <a:srgbClr val="3257B8"/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290405"/>
            <a:ext cx="546044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Slide 5 — Challenges in Current Structure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793790" y="3098363"/>
            <a:ext cx="6407944" cy="1306949"/>
          </a:xfrm>
          <a:prstGeom prst="roundRect">
            <a:avLst>
              <a:gd name="adj" fmla="val 2603"/>
            </a:avLst>
          </a:prstGeom>
          <a:solidFill>
            <a:srgbClr val="E9ECF2"/>
          </a:solidFill>
          <a:ln/>
        </p:spPr>
      </p:sp>
      <p:sp>
        <p:nvSpPr>
          <p:cNvPr id="4" name="Text 2"/>
          <p:cNvSpPr/>
          <p:nvPr/>
        </p:nvSpPr>
        <p:spPr>
          <a:xfrm>
            <a:off x="1020604" y="3325178"/>
            <a:ext cx="382916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Overlapping Responsibilities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428548" y="3098363"/>
            <a:ext cx="6408063" cy="1306949"/>
          </a:xfrm>
          <a:prstGeom prst="roundRect">
            <a:avLst>
              <a:gd name="adj" fmla="val 2603"/>
            </a:avLst>
          </a:prstGeom>
          <a:solidFill>
            <a:srgbClr val="E9ECF2"/>
          </a:solidFill>
          <a:ln/>
        </p:spPr>
      </p:sp>
      <p:sp>
        <p:nvSpPr>
          <p:cNvPr id="6" name="Text 4"/>
          <p:cNvSpPr/>
          <p:nvPr/>
        </p:nvSpPr>
        <p:spPr>
          <a:xfrm>
            <a:off x="7655362" y="3325178"/>
            <a:ext cx="345150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Cross-team Dependencies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655362" y="3815596"/>
            <a:ext cx="595443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Causing delays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793790" y="4632127"/>
            <a:ext cx="6407944" cy="1306949"/>
          </a:xfrm>
          <a:prstGeom prst="roundRect">
            <a:avLst>
              <a:gd name="adj" fmla="val 2603"/>
            </a:avLst>
          </a:prstGeom>
          <a:solidFill>
            <a:srgbClr val="E9ECF2"/>
          </a:solidFill>
          <a:ln/>
        </p:spPr>
      </p:sp>
      <p:sp>
        <p:nvSpPr>
          <p:cNvPr id="9" name="Text 7"/>
          <p:cNvSpPr/>
          <p:nvPr/>
        </p:nvSpPr>
        <p:spPr>
          <a:xfrm>
            <a:off x="1020604" y="485894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Leads Juggling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020604" y="5349359"/>
            <a:ext cx="595431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Management + development work</a:t>
            </a:r>
            <a:endParaRPr lang="en-US" sz="1750" dirty="0"/>
          </a:p>
        </p:txBody>
      </p:sp>
      <p:sp>
        <p:nvSpPr>
          <p:cNvPr id="11" name="Shape 9"/>
          <p:cNvSpPr/>
          <p:nvPr/>
        </p:nvSpPr>
        <p:spPr>
          <a:xfrm>
            <a:off x="7428548" y="4632127"/>
            <a:ext cx="6408063" cy="1306949"/>
          </a:xfrm>
          <a:prstGeom prst="roundRect">
            <a:avLst>
              <a:gd name="adj" fmla="val 2603"/>
            </a:avLst>
          </a:prstGeom>
          <a:solidFill>
            <a:srgbClr val="E9ECF2"/>
          </a:solidFill>
          <a:ln/>
        </p:spPr>
      </p:sp>
      <p:sp>
        <p:nvSpPr>
          <p:cNvPr id="12" name="Text 10"/>
          <p:cNvSpPr/>
          <p:nvPr/>
        </p:nvSpPr>
        <p:spPr>
          <a:xfrm>
            <a:off x="7655362" y="485894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QA Bottlenecks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7655362" y="5349359"/>
            <a:ext cx="595443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When multiple projects hit testing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735693"/>
            <a:ext cx="605647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Slide 6 — Suggested Structural Improvements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93790" y="2543651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 Slab Light" pitchFamily="34" charset="0"/>
                <a:ea typeface="Roboto Slab Light" pitchFamily="34" charset="-122"/>
                <a:cs typeface="Roboto Slab Light" pitchFamily="34" charset="-120"/>
              </a:rPr>
              <a:t>01</a:t>
            </a:r>
            <a:endParaRPr lang="en-US" sz="17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2898696"/>
            <a:ext cx="6407944" cy="304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93790" y="3073003"/>
            <a:ext cx="326040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Cross-functional Squads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793790" y="3563422"/>
            <a:ext cx="640794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Move toward (Agile-inspired)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7428548" y="2543651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 Slab Light" pitchFamily="34" charset="0"/>
                <a:ea typeface="Roboto Slab Light" pitchFamily="34" charset="-122"/>
                <a:cs typeface="Roboto Slab Light" pitchFamily="34" charset="-120"/>
              </a:rPr>
              <a:t>02</a:t>
            </a:r>
            <a:endParaRPr lang="en-US" sz="17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8548" y="2898696"/>
            <a:ext cx="6408063" cy="3048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428548" y="307300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Clearer Ownership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7428548" y="3563422"/>
            <a:ext cx="640806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Between Design, Dev, QA</a:t>
            </a:r>
            <a:endParaRPr lang="en-US" sz="1750" dirty="0"/>
          </a:p>
        </p:txBody>
      </p:sp>
      <p:sp>
        <p:nvSpPr>
          <p:cNvPr id="11" name="Text 7"/>
          <p:cNvSpPr/>
          <p:nvPr/>
        </p:nvSpPr>
        <p:spPr>
          <a:xfrm>
            <a:off x="793790" y="4323159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 Slab Light" pitchFamily="34" charset="0"/>
                <a:ea typeface="Roboto Slab Light" pitchFamily="34" charset="-122"/>
                <a:cs typeface="Roboto Slab Light" pitchFamily="34" charset="-120"/>
              </a:rPr>
              <a:t>03</a:t>
            </a:r>
            <a:endParaRPr lang="en-US" sz="175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4655463"/>
            <a:ext cx="6407944" cy="3048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93790" y="4852511"/>
            <a:ext cx="364914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Structured Communication</a:t>
            </a:r>
            <a:endParaRPr lang="en-US" sz="2200" dirty="0"/>
          </a:p>
        </p:txBody>
      </p:sp>
      <p:sp>
        <p:nvSpPr>
          <p:cNvPr id="14" name="Text 9"/>
          <p:cNvSpPr/>
          <p:nvPr/>
        </p:nvSpPr>
        <p:spPr>
          <a:xfrm>
            <a:off x="793790" y="5342930"/>
            <a:ext cx="640794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From leadership</a:t>
            </a:r>
            <a:endParaRPr lang="en-US" sz="1750" dirty="0"/>
          </a:p>
        </p:txBody>
      </p:sp>
      <p:sp>
        <p:nvSpPr>
          <p:cNvPr id="15" name="Text 10"/>
          <p:cNvSpPr/>
          <p:nvPr/>
        </p:nvSpPr>
        <p:spPr>
          <a:xfrm>
            <a:off x="7428548" y="4323159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 Slab Light" pitchFamily="34" charset="0"/>
                <a:ea typeface="Roboto Slab Light" pitchFamily="34" charset="-122"/>
                <a:cs typeface="Roboto Slab Light" pitchFamily="34" charset="-120"/>
              </a:rPr>
              <a:t>04</a:t>
            </a:r>
            <a:endParaRPr lang="en-US" sz="1750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8548" y="4678204"/>
            <a:ext cx="6408063" cy="3048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7428548" y="4852511"/>
            <a:ext cx="32543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Faster, Cleaner Handoffs</a:t>
            </a:r>
            <a:endParaRPr lang="en-US" sz="2200" dirty="0"/>
          </a:p>
        </p:txBody>
      </p:sp>
      <p:sp>
        <p:nvSpPr>
          <p:cNvPr id="18" name="Text 12"/>
          <p:cNvSpPr/>
          <p:nvPr/>
        </p:nvSpPr>
        <p:spPr>
          <a:xfrm>
            <a:off x="793790" y="6131004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257B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Example:</a:t>
            </a: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 “mini-team” for each product instead of passing the work like a relay race.</a:t>
            </a: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1403" y="590312"/>
            <a:ext cx="5541288" cy="3353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1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Slide 7 — Project Management Methodology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751403" y="1440775"/>
            <a:ext cx="6301978" cy="3433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6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Hybrid model: Agile + Scrum + Kanban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751403" y="1859280"/>
            <a:ext cx="6301978" cy="3433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6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Choose methodology based on project type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751403" y="2277785"/>
            <a:ext cx="6301978" cy="3433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6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Tools: </a:t>
            </a:r>
            <a:r>
              <a:rPr lang="en-US" sz="16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Notion</a:t>
            </a:r>
            <a:r>
              <a:rPr lang="en-US" sz="16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for PM, documentation, sprints</a:t>
            </a:r>
            <a:endParaRPr lang="en-US" sz="16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4638" y="1489115"/>
            <a:ext cx="6301978" cy="630197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579602"/>
            <a:ext cx="544020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Slide 8 — Task Assignment &amp; Monitoring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793790" y="2727722"/>
            <a:ext cx="6407944" cy="1677591"/>
          </a:xfrm>
          <a:prstGeom prst="roundRect">
            <a:avLst>
              <a:gd name="adj" fmla="val 8721"/>
            </a:avLst>
          </a:prstGeom>
          <a:solidFill>
            <a:srgbClr val="FBFCFE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2697242"/>
            <a:ext cx="6407944" cy="121920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540" y="2387560"/>
            <a:ext cx="680442" cy="680442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3861614" y="2557701"/>
            <a:ext cx="272177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1</a:t>
            </a:r>
            <a:endParaRPr lang="en-US" sz="2100" dirty="0"/>
          </a:p>
        </p:txBody>
      </p:sp>
      <p:sp>
        <p:nvSpPr>
          <p:cNvPr id="7" name="Text 3"/>
          <p:cNvSpPr/>
          <p:nvPr/>
        </p:nvSpPr>
        <p:spPr>
          <a:xfrm>
            <a:off x="1051084" y="329469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Task Assignment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1051084" y="3785116"/>
            <a:ext cx="589335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By skill + workload</a:t>
            </a:r>
            <a:endParaRPr lang="en-US" sz="1750" dirty="0"/>
          </a:p>
        </p:txBody>
      </p:sp>
      <p:sp>
        <p:nvSpPr>
          <p:cNvPr id="9" name="Shape 5"/>
          <p:cNvSpPr/>
          <p:nvPr/>
        </p:nvSpPr>
        <p:spPr>
          <a:xfrm>
            <a:off x="7428548" y="2727722"/>
            <a:ext cx="6408063" cy="1677591"/>
          </a:xfrm>
          <a:prstGeom prst="roundRect">
            <a:avLst>
              <a:gd name="adj" fmla="val 8721"/>
            </a:avLst>
          </a:prstGeom>
          <a:solidFill>
            <a:srgbClr val="FBFCFE"/>
          </a:solidFill>
          <a:ln/>
        </p:spPr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8548" y="2697242"/>
            <a:ext cx="6408063" cy="121920"/>
          </a:xfrm>
          <a:prstGeom prst="rect">
            <a:avLst/>
          </a:prstGeom>
        </p:spPr>
      </p:pic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92298" y="2387560"/>
            <a:ext cx="680442" cy="680442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0496371" y="2557701"/>
            <a:ext cx="272177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2</a:t>
            </a:r>
            <a:endParaRPr lang="en-US" sz="2100" dirty="0"/>
          </a:p>
        </p:txBody>
      </p:sp>
      <p:sp>
        <p:nvSpPr>
          <p:cNvPr id="13" name="Text 7"/>
          <p:cNvSpPr/>
          <p:nvPr/>
        </p:nvSpPr>
        <p:spPr>
          <a:xfrm>
            <a:off x="7685842" y="3294697"/>
            <a:ext cx="339185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Sprint Boards &amp; Standups</a:t>
            </a:r>
            <a:endParaRPr lang="en-US" sz="2200" dirty="0"/>
          </a:p>
        </p:txBody>
      </p:sp>
      <p:sp>
        <p:nvSpPr>
          <p:cNvPr id="14" name="Text 8"/>
          <p:cNvSpPr/>
          <p:nvPr/>
        </p:nvSpPr>
        <p:spPr>
          <a:xfrm>
            <a:off x="7685842" y="3785116"/>
            <a:ext cx="589347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Weekly reviews</a:t>
            </a:r>
            <a:endParaRPr lang="en-US" sz="1750" dirty="0"/>
          </a:p>
        </p:txBody>
      </p:sp>
      <p:sp>
        <p:nvSpPr>
          <p:cNvPr id="15" name="Shape 9"/>
          <p:cNvSpPr/>
          <p:nvPr/>
        </p:nvSpPr>
        <p:spPr>
          <a:xfrm>
            <a:off x="793790" y="4972288"/>
            <a:ext cx="6407944" cy="1677591"/>
          </a:xfrm>
          <a:prstGeom prst="roundRect">
            <a:avLst>
              <a:gd name="adj" fmla="val 8721"/>
            </a:avLst>
          </a:prstGeom>
          <a:solidFill>
            <a:srgbClr val="FBFCFE"/>
          </a:solidFill>
          <a:ln/>
        </p:spPr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4941808"/>
            <a:ext cx="6407944" cy="121920"/>
          </a:xfrm>
          <a:prstGeom prst="rect">
            <a:avLst/>
          </a:prstGeom>
        </p:spPr>
      </p:pic>
      <p:pic>
        <p:nvPicPr>
          <p:cNvPr id="17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540" y="4632127"/>
            <a:ext cx="680442" cy="680442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3861614" y="4802267"/>
            <a:ext cx="272177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3</a:t>
            </a:r>
            <a:endParaRPr lang="en-US" sz="2100" dirty="0"/>
          </a:p>
        </p:txBody>
      </p:sp>
      <p:sp>
        <p:nvSpPr>
          <p:cNvPr id="19" name="Text 11"/>
          <p:cNvSpPr/>
          <p:nvPr/>
        </p:nvSpPr>
        <p:spPr>
          <a:xfrm>
            <a:off x="1051084" y="553926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Bi-weekly Planning</a:t>
            </a:r>
            <a:endParaRPr lang="en-US" sz="2200" dirty="0"/>
          </a:p>
        </p:txBody>
      </p:sp>
      <p:sp>
        <p:nvSpPr>
          <p:cNvPr id="20" name="Text 12"/>
          <p:cNvSpPr/>
          <p:nvPr/>
        </p:nvSpPr>
        <p:spPr>
          <a:xfrm>
            <a:off x="1051084" y="6029682"/>
            <a:ext cx="589335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For delivery</a:t>
            </a:r>
            <a:endParaRPr lang="en-US" sz="1750" dirty="0"/>
          </a:p>
        </p:txBody>
      </p:sp>
      <p:sp>
        <p:nvSpPr>
          <p:cNvPr id="21" name="Shape 13"/>
          <p:cNvSpPr/>
          <p:nvPr/>
        </p:nvSpPr>
        <p:spPr>
          <a:xfrm>
            <a:off x="7428548" y="4972288"/>
            <a:ext cx="6408063" cy="1677591"/>
          </a:xfrm>
          <a:prstGeom prst="roundRect">
            <a:avLst>
              <a:gd name="adj" fmla="val 8721"/>
            </a:avLst>
          </a:prstGeom>
          <a:solidFill>
            <a:srgbClr val="FBFCFE"/>
          </a:solidFill>
          <a:ln/>
        </p:spPr>
      </p:sp>
      <p:pic>
        <p:nvPicPr>
          <p:cNvPr id="22" name="Image 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8548" y="4941808"/>
            <a:ext cx="6408063" cy="121920"/>
          </a:xfrm>
          <a:prstGeom prst="rect">
            <a:avLst/>
          </a:prstGeom>
        </p:spPr>
      </p:pic>
      <p:pic>
        <p:nvPicPr>
          <p:cNvPr id="23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92298" y="4632127"/>
            <a:ext cx="680442" cy="680442"/>
          </a:xfrm>
          <a:prstGeom prst="rect">
            <a:avLst/>
          </a:prstGeom>
        </p:spPr>
      </p:pic>
      <p:sp>
        <p:nvSpPr>
          <p:cNvPr id="24" name="Text 14"/>
          <p:cNvSpPr/>
          <p:nvPr/>
        </p:nvSpPr>
        <p:spPr>
          <a:xfrm>
            <a:off x="10496371" y="4802267"/>
            <a:ext cx="272177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4</a:t>
            </a:r>
            <a:endParaRPr lang="en-US" sz="2100" dirty="0"/>
          </a:p>
        </p:txBody>
      </p:sp>
      <p:sp>
        <p:nvSpPr>
          <p:cNvPr id="25" name="Text 15"/>
          <p:cNvSpPr/>
          <p:nvPr/>
        </p:nvSpPr>
        <p:spPr>
          <a:xfrm>
            <a:off x="7685842" y="553926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Blockers Resolution</a:t>
            </a:r>
            <a:endParaRPr lang="en-US" sz="2200" dirty="0"/>
          </a:p>
        </p:txBody>
      </p:sp>
      <p:sp>
        <p:nvSpPr>
          <p:cNvPr id="26" name="Text 16"/>
          <p:cNvSpPr/>
          <p:nvPr/>
        </p:nvSpPr>
        <p:spPr>
          <a:xfrm>
            <a:off x="7685842" y="6029682"/>
            <a:ext cx="589347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Frequent + priority shifts</a:t>
            </a:r>
            <a:endParaRPr lang="en-US" sz="1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>
              <a:alpha val="8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793790" y="2776657"/>
            <a:ext cx="435935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Slide 9 — Operational Challenges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93790" y="3471148"/>
            <a:ext cx="4196358" cy="877491"/>
          </a:xfrm>
          <a:prstGeom prst="roundRect">
            <a:avLst>
              <a:gd name="adj" fmla="val 16673"/>
            </a:avLst>
          </a:prstGeom>
          <a:solidFill>
            <a:srgbClr val="FBFCFE"/>
          </a:solidFill>
          <a:ln w="30480">
            <a:solidFill>
              <a:srgbClr val="CFD2D8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310" y="3471148"/>
            <a:ext cx="121920" cy="87749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42524" y="3728442"/>
            <a:ext cx="359033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Scope creep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5216962" y="3471148"/>
            <a:ext cx="4196358" cy="877491"/>
          </a:xfrm>
          <a:prstGeom prst="roundRect">
            <a:avLst>
              <a:gd name="adj" fmla="val 16673"/>
            </a:avLst>
          </a:prstGeom>
          <a:solidFill>
            <a:srgbClr val="FBFCFE"/>
          </a:solidFill>
          <a:ln w="30480">
            <a:solidFill>
              <a:srgbClr val="CFD2D8"/>
            </a:solidFill>
            <a:prstDash val="solid"/>
          </a:ln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6482" y="3471148"/>
            <a:ext cx="121920" cy="877491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565696" y="3728442"/>
            <a:ext cx="359033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Client feedback delays</a:t>
            </a:r>
            <a:endParaRPr lang="en-US" sz="1750" dirty="0"/>
          </a:p>
        </p:txBody>
      </p:sp>
      <p:sp>
        <p:nvSpPr>
          <p:cNvPr id="10" name="Shape 6"/>
          <p:cNvSpPr/>
          <p:nvPr/>
        </p:nvSpPr>
        <p:spPr>
          <a:xfrm>
            <a:off x="9640133" y="3471148"/>
            <a:ext cx="4196358" cy="877491"/>
          </a:xfrm>
          <a:prstGeom prst="roundRect">
            <a:avLst>
              <a:gd name="adj" fmla="val 16673"/>
            </a:avLst>
          </a:prstGeom>
          <a:solidFill>
            <a:srgbClr val="FBFCFE"/>
          </a:solidFill>
          <a:ln w="30480">
            <a:solidFill>
              <a:srgbClr val="CFD2D8"/>
            </a:solidFill>
            <a:prstDash val="solid"/>
          </a:ln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9653" y="3471148"/>
            <a:ext cx="121920" cy="877491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9988868" y="3728442"/>
            <a:ext cx="359033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Technical blockers</a:t>
            </a:r>
            <a:endParaRPr lang="en-US" sz="1750" dirty="0"/>
          </a:p>
        </p:txBody>
      </p:sp>
      <p:sp>
        <p:nvSpPr>
          <p:cNvPr id="13" name="Shape 8"/>
          <p:cNvSpPr/>
          <p:nvPr/>
        </p:nvSpPr>
        <p:spPr>
          <a:xfrm>
            <a:off x="793790" y="4575453"/>
            <a:ext cx="4196358" cy="877491"/>
          </a:xfrm>
          <a:prstGeom prst="roundRect">
            <a:avLst>
              <a:gd name="adj" fmla="val 16673"/>
            </a:avLst>
          </a:prstGeom>
          <a:solidFill>
            <a:srgbClr val="FBFCFE"/>
          </a:solidFill>
          <a:ln w="30480">
            <a:solidFill>
              <a:srgbClr val="CFD2D8"/>
            </a:solidFill>
            <a:prstDash val="solid"/>
          </a:ln>
        </p:spPr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310" y="4575453"/>
            <a:ext cx="121920" cy="877491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142524" y="4832747"/>
            <a:ext cx="359033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Developers switching projects</a:t>
            </a:r>
            <a:endParaRPr lang="en-US" sz="1750" dirty="0"/>
          </a:p>
        </p:txBody>
      </p:sp>
      <p:sp>
        <p:nvSpPr>
          <p:cNvPr id="16" name="Shape 10"/>
          <p:cNvSpPr/>
          <p:nvPr/>
        </p:nvSpPr>
        <p:spPr>
          <a:xfrm>
            <a:off x="5216962" y="4575453"/>
            <a:ext cx="4196358" cy="877491"/>
          </a:xfrm>
          <a:prstGeom prst="roundRect">
            <a:avLst>
              <a:gd name="adj" fmla="val 16673"/>
            </a:avLst>
          </a:prstGeom>
          <a:solidFill>
            <a:srgbClr val="FBFCFE"/>
          </a:solidFill>
          <a:ln w="30480">
            <a:solidFill>
              <a:srgbClr val="CFD2D8"/>
            </a:solidFill>
            <a:prstDash val="solid"/>
          </a:ln>
        </p:spPr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6482" y="4575453"/>
            <a:ext cx="121920" cy="877491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5565696" y="4832747"/>
            <a:ext cx="359033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QA overload</a:t>
            </a:r>
            <a:endParaRPr lang="en-US" sz="1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928211"/>
            <a:ext cx="572095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Slide 10 — Recommendations &amp; Conclusion</a:t>
            </a:r>
            <a:endParaRPr lang="en-US" sz="22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1856661"/>
            <a:ext cx="113348" cy="1133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33951" y="1736169"/>
            <a:ext cx="354913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Improve Sprint Estimation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1133951" y="2226588"/>
            <a:ext cx="1270265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And buffer times</a:t>
            </a:r>
            <a:endParaRPr lang="en-US" sz="17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3163610"/>
            <a:ext cx="113348" cy="11334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133951" y="3043118"/>
            <a:ext cx="292238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Reduce Priority Shifts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1133951" y="3533537"/>
            <a:ext cx="1270265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Last-minute changes</a:t>
            </a:r>
            <a:endParaRPr lang="en-US" sz="17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4470559"/>
            <a:ext cx="113348" cy="11334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133951" y="435006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Automate Testing</a:t>
            </a:r>
            <a:endParaRPr lang="en-US" sz="220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5278517"/>
            <a:ext cx="113348" cy="113348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133951" y="5158026"/>
            <a:ext cx="447294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Strengthen Cross-team Processes</a:t>
            </a:r>
            <a:endParaRPr lang="en-US" sz="220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6086475"/>
            <a:ext cx="113348" cy="113348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1133951" y="5965984"/>
            <a:ext cx="451687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Move Toward Squad-based Model</a:t>
            </a:r>
            <a:endParaRPr lang="en-US" sz="2200" dirty="0"/>
          </a:p>
        </p:txBody>
      </p:sp>
      <p:sp>
        <p:nvSpPr>
          <p:cNvPr id="15" name="Text 8"/>
          <p:cNvSpPr/>
          <p:nvPr/>
        </p:nvSpPr>
        <p:spPr>
          <a:xfrm>
            <a:off x="793790" y="6575465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257B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Ending line:</a:t>
            </a: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“Alphaventure is already strong operationally, but with better cross-team structure and planning, the workflow can become even smoother and more scalable.”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359</Words>
  <Application>Microsoft Office PowerPoint</Application>
  <PresentationFormat>Custom</PresentationFormat>
  <Paragraphs>90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Roboto</vt:lpstr>
      <vt:lpstr>Roboto Slab</vt:lpstr>
      <vt:lpstr>Calibri</vt:lpstr>
      <vt:lpstr>Roboto Slab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lastModifiedBy>CCS-CREATIVE</cp:lastModifiedBy>
  <cp:revision>2</cp:revision>
  <dcterms:created xsi:type="dcterms:W3CDTF">2025-11-15T15:30:36Z</dcterms:created>
  <dcterms:modified xsi:type="dcterms:W3CDTF">2025-11-15T15:31:42Z</dcterms:modified>
</cp:coreProperties>
</file>